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9" r:id="rId5"/>
    <p:sldId id="260" r:id="rId6"/>
    <p:sldId id="274" r:id="rId7"/>
    <p:sldId id="273" r:id="rId8"/>
    <p:sldId id="262" r:id="rId9"/>
    <p:sldId id="275" r:id="rId10"/>
  </p:sldIdLst>
  <p:sldSz cx="12192000" cy="6858000"/>
  <p:notesSz cx="6858000" cy="9144000"/>
  <p:embeddedFontLst>
    <p:embeddedFont>
      <p:font typeface="HY견고딕" panose="02030600000101010101" pitchFamily="18" charset="-127"/>
      <p:regular r:id="rId12"/>
    </p:embeddedFont>
    <p:embeddedFont>
      <p:font typeface="Microsoft GothicNeo" panose="020B0500000101010101" pitchFamily="50" charset="-127"/>
      <p:regular r:id="rId13"/>
      <p:bold r:id="rId14"/>
    </p:embeddedFont>
    <p:embeddedFont>
      <p:font typeface="Pretendard Variable" panose="02000003000000020004" pitchFamily="2" charset="-127"/>
      <p:regular r:id="rId15"/>
      <p:bold r:id="rId16"/>
    </p:embeddedFont>
    <p:embeddedFont>
      <p:font typeface="Pretendard Variable Light" panose="02000003000000020004" pitchFamily="2" charset="-127"/>
      <p:regular r:id="rId17"/>
    </p:embeddedFont>
    <p:embeddedFont>
      <p:font typeface="Pretendard Variable Medium" panose="02000003000000020004" pitchFamily="2" charset="-127"/>
      <p:regular r:id="rId18"/>
    </p:embeddedFont>
    <p:embeddedFont>
      <p:font typeface="Pretendard Variable SemiBold" panose="02000003000000020004" pitchFamily="2" charset="-127"/>
      <p:bold r:id="rId19"/>
    </p:embeddedFont>
    <p:embeddedFont>
      <p:font typeface="Pretendard Variable Thin" panose="02000003000000020004" pitchFamily="2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D503BA8-C20C-4417-AC06-110B11DA1847}">
          <p14:sldIdLst>
            <p14:sldId id="256"/>
            <p14:sldId id="257"/>
            <p14:sldId id="258"/>
            <p14:sldId id="269"/>
            <p14:sldId id="260"/>
            <p14:sldId id="274"/>
            <p14:sldId id="273"/>
            <p14:sldId id="262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2F33"/>
    <a:srgbClr val="7E0000"/>
    <a:srgbClr val="FF75A0"/>
    <a:srgbClr val="FF93B4"/>
    <a:srgbClr val="A50034"/>
    <a:srgbClr val="FFFA8D"/>
    <a:srgbClr val="FF0101"/>
    <a:srgbClr val="8D8A00"/>
    <a:srgbClr val="FF6969"/>
    <a:srgbClr val="FF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1214" autoAdjust="0"/>
  </p:normalViewPr>
  <p:slideViewPr>
    <p:cSldViewPr snapToGrid="0">
      <p:cViewPr varScale="1">
        <p:scale>
          <a:sx n="101" d="100"/>
          <a:sy n="101" d="100"/>
        </p:scale>
        <p:origin x="8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21047-68EF-45E2-9AB8-33DD6CEB2BF1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83F72-9A89-4AC8-9E4C-D1F8BFBCE0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9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83F72-9A89-4AC8-9E4C-D1F8BFBCE0E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242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20B3-D4A1-D1EE-78F4-01D21370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468F63-1700-48E6-450C-9EF8AD860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BE18E5-90C0-56DC-E3A8-B1011BBC9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DA9342-E335-1018-0892-0C69E1316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83F72-9A89-4AC8-9E4C-D1F8BFBCE0E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411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83F72-9A89-4AC8-9E4C-D1F8BFBCE0E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053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4413-82F9-E465-3176-3A15A23A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2F14E8-8ADC-BD5E-C079-C9D80FB7C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EC0F68-9335-197F-5BD7-7D9E18032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7583C7-7870-BE55-A8F0-6307A28744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83F72-9A89-4AC8-9E4C-D1F8BFBCE0E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760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83F72-9A89-4AC8-9E4C-D1F8BFBCE0E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47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A947D-0FDF-8D58-8F75-5C8CB852FE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1pPr>
          </a:lstStyle>
          <a:p>
            <a:r>
              <a:rPr lang="en-US" altLang="ko-KR" dirty="0"/>
              <a:t>AX </a:t>
            </a:r>
            <a:r>
              <a:rPr lang="ko-KR" altLang="en-US" dirty="0"/>
              <a:t>전형 사전과제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5C5EF2-051B-2B5B-9595-C6BD4296A84A}"/>
              </a:ext>
            </a:extLst>
          </p:cNvPr>
          <p:cNvSpPr/>
          <p:nvPr userDrawn="1"/>
        </p:nvSpPr>
        <p:spPr>
          <a:xfrm>
            <a:off x="-38100" y="5735637"/>
            <a:ext cx="12268200" cy="1150122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50034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458AB6-9DDB-E805-7068-C751A3FCBB57}"/>
              </a:ext>
            </a:extLst>
          </p:cNvPr>
          <p:cNvSpPr txBox="1"/>
          <p:nvPr userDrawn="1"/>
        </p:nvSpPr>
        <p:spPr>
          <a:xfrm>
            <a:off x="1523999" y="3602038"/>
            <a:ext cx="91440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/>
              <a:t>회로</a:t>
            </a:r>
            <a:r>
              <a:rPr lang="en-US" altLang="ko-KR" dirty="0"/>
              <a:t>/</a:t>
            </a:r>
            <a:r>
              <a:rPr lang="ko-KR" altLang="en-US" dirty="0" err="1"/>
              <a:t>방호영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1112A7-16FA-CCA7-BEFA-6A7A25AC83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04" y="65691"/>
            <a:ext cx="1838020" cy="41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64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E6006F58-4E8E-D734-0EE2-6E8B8E17015B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8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1468FB-C5E6-42D4-A7D3-F4E5D3C941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03A8559-406C-D6C6-1B20-64F198F157CF}"/>
              </a:ext>
            </a:extLst>
          </p:cNvPr>
          <p:cNvSpPr txBox="1">
            <a:spLocks/>
          </p:cNvSpPr>
          <p:nvPr userDrawn="1"/>
        </p:nvSpPr>
        <p:spPr>
          <a:xfrm>
            <a:off x="838200" y="798092"/>
            <a:ext cx="10515600" cy="905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Contents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C977F4-BF95-ED72-C5E0-7F7416FCC1FD}"/>
              </a:ext>
            </a:extLst>
          </p:cNvPr>
          <p:cNvSpPr/>
          <p:nvPr userDrawn="1"/>
        </p:nvSpPr>
        <p:spPr>
          <a:xfrm>
            <a:off x="10101533" y="0"/>
            <a:ext cx="2090468" cy="685800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8744AF9-6F0D-5C3B-3F19-3CF925ACD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324975" cy="4351338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1pPr>
            <a:lvl2pPr marL="685800" indent="-228600"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 err="1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ㅅㄷㄴㅅ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530CC36-906D-CA7A-21EF-9005811842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04" y="65691"/>
            <a:ext cx="1838020" cy="416492"/>
          </a:xfrm>
          <a:prstGeom prst="rect">
            <a:avLst/>
          </a:prstGeom>
        </p:spPr>
      </p:pic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4CAE1617-7C24-4BB6-AA0A-89CA0E10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1673" y="649287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회로설계</a:t>
            </a:r>
            <a:r>
              <a:rPr lang="en-US" altLang="ko-KR"/>
              <a:t>/</a:t>
            </a:r>
            <a:r>
              <a:rPr lang="ko-KR" altLang="en-US"/>
              <a:t>방호영 </a:t>
            </a:r>
            <a:r>
              <a:rPr lang="en-US" altLang="ko-KR"/>
              <a:t>AX</a:t>
            </a:r>
            <a:r>
              <a:rPr lang="ko-KR" altLang="en-US"/>
              <a:t>전형 사전 과제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0476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C4BB75-B9B0-0487-AD86-67C74582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9756"/>
            <a:ext cx="11938958" cy="5056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Font typeface="Wingdings" panose="05000000000000000000" pitchFamily="2" charset="2"/>
              <a:buChar char="Ø"/>
              <a:defRPr b="0">
                <a:solidFill>
                  <a:schemeClr val="tx1"/>
                </a:solidFill>
                <a:latin typeface="Pretendard Variable SemiBold" panose="02000003000000020004" pitchFamily="2" charset="-127"/>
                <a:ea typeface="Pretendard Variable SemiBold" panose="02000003000000020004" pitchFamily="2" charset="-127"/>
                <a:cs typeface="Pretendard Variable SemiBold" panose="02000003000000020004" pitchFamily="2" charset="-127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§"/>
              <a:defRPr b="1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defRPr>
            </a:lvl3pPr>
            <a:lvl4pPr marL="1600200" indent="-228600">
              <a:lnSpc>
                <a:spcPct val="100000"/>
              </a:lnSpc>
              <a:buFont typeface="Microsoft GothicNeo" panose="020B0500000101010101" pitchFamily="50" charset="-127"/>
              <a:buChar char="-"/>
              <a:defRPr sz="2000">
                <a:solidFill>
                  <a:schemeClr val="tx1"/>
                </a:solidFill>
                <a:latin typeface="Pretendard Variable Thin" panose="02000003000000020004" pitchFamily="2" charset="-127"/>
                <a:ea typeface="Pretendard Variable Thin" panose="02000003000000020004" pitchFamily="2" charset="-127"/>
                <a:cs typeface="Pretendard Variable Thin" panose="02000003000000020004" pitchFamily="2" charset="-127"/>
              </a:defRPr>
            </a:lvl4pPr>
            <a:lvl5pPr marL="2057400" indent="-228600">
              <a:lnSpc>
                <a:spcPct val="100000"/>
              </a:lnSpc>
              <a:buFont typeface="Microsoft GothicNeo" panose="020B0500000101010101" pitchFamily="50" charset="-127"/>
              <a:buChar char="-"/>
              <a:defRPr>
                <a:solidFill>
                  <a:schemeClr val="tx1"/>
                </a:solidFill>
                <a:latin typeface="Pretendard Variable Thin" panose="02000003000000020004" pitchFamily="2" charset="-127"/>
                <a:ea typeface="Pretendard Variable Thin" panose="02000003000000020004" pitchFamily="2" charset="-127"/>
                <a:cs typeface="Pretendard Variable Thin" panose="020000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814F7-445B-00AB-F858-B04F789A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13792" y="6505048"/>
            <a:ext cx="283466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회로설계</a:t>
            </a:r>
            <a:r>
              <a:rPr lang="en-US" altLang="ko-KR"/>
              <a:t>/</a:t>
            </a:r>
            <a:r>
              <a:rPr lang="ko-KR" altLang="en-US"/>
              <a:t>방호영 </a:t>
            </a:r>
            <a:r>
              <a:rPr lang="en-US" altLang="ko-KR"/>
              <a:t>AX</a:t>
            </a:r>
            <a:r>
              <a:rPr lang="ko-KR" altLang="en-US"/>
              <a:t>전형 사전 과제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C8231F8-C5E5-A4A4-B1EA-58211E07CC51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857249"/>
          </a:xfrm>
          <a:prstGeom prst="rect">
            <a:avLst/>
          </a:prstGeom>
          <a:solidFill>
            <a:srgbClr val="A5003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ko-KR" altLang="en-US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E6006F58-4E8E-D734-0EE2-6E8B8E17015B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8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1468FB-C5E6-42D4-A7D3-F4E5D3C941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제목 개체 틀 1">
            <a:extLst>
              <a:ext uri="{FF2B5EF4-FFF2-40B4-BE49-F238E27FC236}">
                <a16:creationId xmlns:a16="http://schemas.microsoft.com/office/drawing/2014/main" id="{140EE533-2978-ABE8-EF00-E0B9299D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7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>
                <a:solidFill>
                  <a:schemeClr val="bg1">
                    <a:lumMod val="8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2AD61D-D3D2-6F87-1C48-A80F0621BE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41505"/>
            <a:ext cx="1838020" cy="41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1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1C81CE-F07E-BFE4-036D-3F250B59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8998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814F7-445B-00AB-F858-B04F789A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1673" y="649287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회로설계</a:t>
            </a:r>
            <a:r>
              <a:rPr lang="en-US" altLang="ko-KR"/>
              <a:t>/</a:t>
            </a:r>
            <a:r>
              <a:rPr lang="ko-KR" altLang="en-US"/>
              <a:t>방호영 </a:t>
            </a:r>
            <a:r>
              <a:rPr lang="en-US" altLang="ko-KR"/>
              <a:t>AX</a:t>
            </a:r>
            <a:r>
              <a:rPr lang="ko-KR" altLang="en-US"/>
              <a:t>전형 사전 과제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E6006F58-4E8E-D734-0EE2-6E8B8E17015B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8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1468FB-C5E6-42D4-A7D3-F4E5D3C941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8744AF9-6F0D-5C3B-3F19-3CF925ACD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159" y="1253331"/>
            <a:ext cx="9324975" cy="435133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6000" b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1pPr>
            <a:lvl2pPr marL="685800" indent="-228600">
              <a:buFont typeface="Arial" panose="020B0604020202020204" pitchFamily="34" charset="0"/>
              <a:buChar char="•"/>
              <a:defRPr b="1"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3E5816-E0A8-C75F-BC21-A40D53882CA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10101532" y="2432650"/>
            <a:ext cx="2090468" cy="44253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 b="1">
                <a:solidFill>
                  <a:schemeClr val="bg1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685800" indent="-228600">
              <a:buFont typeface="Arial" panose="020B0604020202020204" pitchFamily="34" charset="0"/>
              <a:buChar char="•"/>
              <a:defRPr b="1"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88A3FC4-A881-B99F-95EE-49D7CA88E9F8}"/>
              </a:ext>
            </a:extLst>
          </p:cNvPr>
          <p:cNvSpPr txBox="1">
            <a:spLocks/>
          </p:cNvSpPr>
          <p:nvPr userDrawn="1"/>
        </p:nvSpPr>
        <p:spPr>
          <a:xfrm>
            <a:off x="9738804" y="2"/>
            <a:ext cx="2488707" cy="6884122"/>
          </a:xfrm>
          <a:prstGeom prst="rect">
            <a:avLst/>
          </a:prstGeom>
          <a:solidFill>
            <a:srgbClr val="A50034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ko-KR" altLang="en-US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2ABD62A-D001-A6A1-92C7-9611AB81CE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04" y="65691"/>
            <a:ext cx="1838020" cy="41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62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1C81CE-F07E-BFE4-036D-3F250B5944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8998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814F7-445B-00AB-F858-B04F789A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1673" y="649287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회로설계</a:t>
            </a:r>
            <a:r>
              <a:rPr lang="en-US" altLang="ko-KR"/>
              <a:t>/</a:t>
            </a:r>
            <a:r>
              <a:rPr lang="ko-KR" altLang="en-US"/>
              <a:t>방호영 </a:t>
            </a:r>
            <a:r>
              <a:rPr lang="en-US" altLang="ko-KR"/>
              <a:t>AX</a:t>
            </a:r>
            <a:r>
              <a:rPr lang="ko-KR" altLang="en-US"/>
              <a:t>전형 사전 과제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E6006F58-4E8E-D734-0EE2-6E8B8E17015B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8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1468FB-C5E6-42D4-A7D3-F4E5D3C941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03A8559-406C-D6C6-1B20-64F198F157CF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rPr>
              <a:t>Ref</a:t>
            </a:r>
            <a:r>
              <a:rPr lang="en-US" altLang="ko-KR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C977F4-BF95-ED72-C5E0-7F7416FCC1FD}"/>
              </a:ext>
            </a:extLst>
          </p:cNvPr>
          <p:cNvSpPr/>
          <p:nvPr userDrawn="1"/>
        </p:nvSpPr>
        <p:spPr>
          <a:xfrm>
            <a:off x="10101533" y="0"/>
            <a:ext cx="20904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8744AF9-6F0D-5C3B-3F19-3CF925ACD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324975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3029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67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BBCC7581-2FD3-7E3F-877D-F6F454D4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8998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3D76F94C-30E2-F897-0E1D-641402E9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1673" y="649287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회로설계</a:t>
            </a:r>
            <a:r>
              <a:rPr lang="en-US" altLang="ko-KR"/>
              <a:t>/</a:t>
            </a:r>
            <a:r>
              <a:rPr lang="ko-KR" altLang="en-US"/>
              <a:t>방호영 </a:t>
            </a:r>
            <a:r>
              <a:rPr lang="en-US" altLang="ko-KR"/>
              <a:t>AX</a:t>
            </a:r>
            <a:r>
              <a:rPr lang="ko-KR" altLang="en-US"/>
              <a:t>전형 사전 과제</a:t>
            </a:r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B2B5B9D4-7E04-0D45-E5AE-D5C75E2FF86E}"/>
              </a:ext>
            </a:extLst>
          </p:cNvPr>
          <p:cNvSpPr txBox="1">
            <a:spLocks/>
          </p:cNvSpPr>
          <p:nvPr userDrawn="1"/>
        </p:nvSpPr>
        <p:spPr>
          <a:xfrm>
            <a:off x="9448800" y="64928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1468FB-C5E6-42D4-A7D3-F4E5D3C941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85D554C7-6776-4D10-3F6C-EFD33DAF3EB7}"/>
              </a:ext>
            </a:extLst>
          </p:cNvPr>
          <p:cNvSpPr txBox="1">
            <a:spLocks/>
          </p:cNvSpPr>
          <p:nvPr userDrawn="1"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Ref.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B0B9189-6213-B850-7A0D-34F45A4A4A92}"/>
              </a:ext>
            </a:extLst>
          </p:cNvPr>
          <p:cNvSpPr/>
          <p:nvPr userDrawn="1"/>
        </p:nvSpPr>
        <p:spPr>
          <a:xfrm>
            <a:off x="10101533" y="0"/>
            <a:ext cx="20904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09D661D3-B746-C3F4-C329-8F6363BEC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324975" cy="4351338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>
                <a:solidFill>
                  <a:srgbClr val="4672C0"/>
                </a:solidFill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solidFill>
                  <a:srgbClr val="4672C0"/>
                </a:solidFill>
              </a:defRPr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215CB1-A830-42EB-11A4-3EFE6B0FA7A8}"/>
              </a:ext>
            </a:extLst>
          </p:cNvPr>
          <p:cNvSpPr/>
          <p:nvPr userDrawn="1"/>
        </p:nvSpPr>
        <p:spPr>
          <a:xfrm>
            <a:off x="768143" y="2697231"/>
            <a:ext cx="5874327" cy="4351338"/>
          </a:xfrm>
          <a:prstGeom prst="rect">
            <a:avLst/>
          </a:prstGeom>
          <a:solidFill>
            <a:srgbClr val="4672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89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CD11A5-ED95-77EC-72C4-D39F6E0F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BE455-631F-1977-A937-E982CCE37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E2E73-D220-3FC1-F19E-D8316C5C9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88774-420A-CA81-7D97-5356D6B9A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회로설계</a:t>
            </a:r>
            <a:r>
              <a:rPr lang="en-US" altLang="ko-KR"/>
              <a:t>/</a:t>
            </a:r>
            <a:r>
              <a:rPr lang="ko-KR" altLang="en-US"/>
              <a:t>방호영 </a:t>
            </a:r>
            <a:r>
              <a:rPr lang="en-US" altLang="ko-KR"/>
              <a:t>AX</a:t>
            </a:r>
            <a:r>
              <a:rPr lang="ko-KR" altLang="en-US"/>
              <a:t>전형 사전 과제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277375-0C11-8B38-9221-D64950AB8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468FB-C5E6-42D4-A7D3-F4E5D3C941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10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7" r:id="rId3"/>
    <p:sldLayoutId id="2147483656" r:id="rId4"/>
    <p:sldLayoutId id="2147483654" r:id="rId5"/>
    <p:sldLayoutId id="2147483658" r:id="rId6"/>
    <p:sldLayoutId id="2147483655" r:id="rId7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Variable Thin" panose="02000003000000020004" pitchFamily="2" charset="-127"/>
          <a:ea typeface="Pretendard Variable Thin" panose="02000003000000020004" pitchFamily="2" charset="-127"/>
          <a:cs typeface="Pretendard Variable Thin" panose="020000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3CDFB-4E11-F87B-61C9-5771DD1676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7200" dirty="0"/>
              <a:t>AX </a:t>
            </a:r>
            <a:r>
              <a:rPr lang="ko-KR" altLang="en-US" sz="7200" dirty="0"/>
              <a:t>전형 사전과제</a:t>
            </a:r>
          </a:p>
        </p:txBody>
      </p:sp>
    </p:spTree>
    <p:extLst>
      <p:ext uri="{BB962C8B-B14F-4D97-AF65-F5344CB8AC3E}">
        <p14:creationId xmlns:p14="http://schemas.microsoft.com/office/powerpoint/2010/main" val="223873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98F827F-ABEA-5798-E717-0B91F3AD2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375640"/>
            <a:ext cx="9324975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tx1"/>
                </a:solidFill>
              </a:rPr>
              <a:t>문제 정의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tx1"/>
                </a:solidFill>
              </a:rPr>
              <a:t>AI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/>
              <a:t>활용 전략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tx1"/>
                </a:solidFill>
              </a:rPr>
              <a:t>결과 및 시연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07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8F76-757E-862C-CB74-AE592FF3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0994AC1-029F-C1BD-4824-6F59FBDF1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9756"/>
            <a:ext cx="11938958" cy="2928795"/>
          </a:xfrm>
        </p:spPr>
        <p:txBody>
          <a:bodyPr>
            <a:normAutofit/>
          </a:bodyPr>
          <a:lstStyle/>
          <a:p>
            <a:r>
              <a:rPr lang="ko-KR" altLang="en-US" b="1" dirty="0"/>
              <a:t>테스트 칩 검증</a:t>
            </a:r>
            <a:endParaRPr lang="en-US" altLang="ko-KR" b="1" dirty="0"/>
          </a:p>
          <a:p>
            <a:pPr lvl="1"/>
            <a:r>
              <a:rPr lang="ko-KR" altLang="en-US" b="0" dirty="0"/>
              <a:t>기존 테스트 방식 </a:t>
            </a:r>
            <a:r>
              <a:rPr lang="en-US" altLang="ko-KR" b="0" dirty="0"/>
              <a:t>(manual)</a:t>
            </a:r>
          </a:p>
          <a:p>
            <a:pPr marL="914400" lvl="2" indent="0">
              <a:buNone/>
            </a:pPr>
            <a:r>
              <a:rPr lang="en-US" altLang="ko-KR" dirty="0"/>
              <a:t>[1] RTL</a:t>
            </a:r>
            <a:r>
              <a:rPr lang="ko-KR" altLang="en-US" dirty="0"/>
              <a:t>로 작성된 </a:t>
            </a:r>
            <a:r>
              <a:rPr lang="en-US" altLang="ko-KR" dirty="0"/>
              <a:t>Test Vector</a:t>
            </a:r>
            <a:r>
              <a:rPr lang="ko-KR" altLang="en-US" dirty="0"/>
              <a:t>를 테스트 보드에 전달하기 위해 </a:t>
            </a:r>
            <a:r>
              <a:rPr lang="en-US" altLang="ko-KR" dirty="0"/>
              <a:t>SPI/I2C </a:t>
            </a:r>
            <a:r>
              <a:rPr lang="ko-KR" altLang="en-US" dirty="0"/>
              <a:t>포맷으로 수정</a:t>
            </a:r>
            <a:r>
              <a:rPr lang="en-US" altLang="ko-KR" dirty="0"/>
              <a:t>, </a:t>
            </a:r>
            <a:r>
              <a:rPr lang="ko-KR" altLang="en-US" dirty="0"/>
              <a:t>신호 전달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[2] </a:t>
            </a:r>
            <a:r>
              <a:rPr lang="ko-KR" altLang="en-US" dirty="0"/>
              <a:t>테스트 보드의 </a:t>
            </a:r>
            <a:r>
              <a:rPr lang="en-US" altLang="ko-KR" dirty="0"/>
              <a:t>FPGA</a:t>
            </a:r>
            <a:r>
              <a:rPr lang="ko-KR" altLang="en-US" dirty="0"/>
              <a:t>가 타겟 칩에 신호를 인가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[3] </a:t>
            </a:r>
            <a:r>
              <a:rPr lang="ko-KR" altLang="en-US" dirty="0"/>
              <a:t>오실로스코프</a:t>
            </a:r>
            <a:r>
              <a:rPr lang="en-US" altLang="ko-KR" dirty="0"/>
              <a:t>/</a:t>
            </a:r>
            <a:r>
              <a:rPr lang="ko-KR" altLang="en-US" dirty="0" err="1"/>
              <a:t>멀티미터를</a:t>
            </a:r>
            <a:r>
              <a:rPr lang="ko-KR" altLang="en-US" dirty="0"/>
              <a:t> 통해 </a:t>
            </a:r>
            <a:r>
              <a:rPr lang="en-US" altLang="ko-KR" dirty="0"/>
              <a:t>Digital/Analog </a:t>
            </a:r>
            <a:r>
              <a:rPr lang="ko-KR" altLang="en-US" dirty="0"/>
              <a:t>신호를 측정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[4] </a:t>
            </a:r>
            <a:r>
              <a:rPr lang="ko-KR" altLang="en-US" dirty="0"/>
              <a:t>결과 확인 후 해당 </a:t>
            </a:r>
            <a:r>
              <a:rPr lang="en-US" altLang="ko-KR" dirty="0"/>
              <a:t>Scenario</a:t>
            </a:r>
            <a:r>
              <a:rPr lang="ko-KR" altLang="en-US" dirty="0"/>
              <a:t>의 </a:t>
            </a:r>
            <a:r>
              <a:rPr lang="en-US" altLang="ko-KR" dirty="0"/>
              <a:t>Pass/Fail </a:t>
            </a:r>
            <a:r>
              <a:rPr lang="ko-KR" altLang="en-US" dirty="0"/>
              <a:t>판단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2CCB3F2-179D-FF13-109F-A53E8498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정의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0B09684-65A3-FD6D-000C-B5456226872C}"/>
              </a:ext>
            </a:extLst>
          </p:cNvPr>
          <p:cNvGrpSpPr/>
          <p:nvPr/>
        </p:nvGrpSpPr>
        <p:grpSpPr>
          <a:xfrm>
            <a:off x="6259137" y="4341918"/>
            <a:ext cx="2492822" cy="1453643"/>
            <a:chOff x="6259137" y="4585530"/>
            <a:chExt cx="2492822" cy="1453643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7A19D17-A6CA-AD16-4B71-5F5DA77D2053}"/>
                </a:ext>
              </a:extLst>
            </p:cNvPr>
            <p:cNvSpPr/>
            <p:nvPr/>
          </p:nvSpPr>
          <p:spPr>
            <a:xfrm>
              <a:off x="6359396" y="4585530"/>
              <a:ext cx="2392563" cy="130752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400" dirty="0" err="1">
                  <a:solidFill>
                    <a:schemeClr val="bg1"/>
                  </a:solidFill>
                </a:rPr>
                <a:t>TestBoard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3566E14-4FB0-3343-6DED-9647062FB2EF}"/>
                </a:ext>
              </a:extLst>
            </p:cNvPr>
            <p:cNvSpPr/>
            <p:nvPr/>
          </p:nvSpPr>
          <p:spPr>
            <a:xfrm>
              <a:off x="7455989" y="4991208"/>
              <a:ext cx="1255442" cy="78725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Target </a:t>
              </a:r>
              <a:br>
                <a:rPr lang="en-US" altLang="ko-KR" dirty="0"/>
              </a:br>
              <a:r>
                <a:rPr lang="en-US" altLang="ko-KR" dirty="0"/>
                <a:t>IP Chip</a:t>
              </a:r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99C3A98-DA2D-17E9-C67C-F49F27831431}"/>
                </a:ext>
              </a:extLst>
            </p:cNvPr>
            <p:cNvSpPr/>
            <p:nvPr/>
          </p:nvSpPr>
          <p:spPr>
            <a:xfrm>
              <a:off x="6560926" y="4991208"/>
              <a:ext cx="794804" cy="78725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FPGA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5D3835-DF66-9BF8-5184-367D9404910F}"/>
                </a:ext>
              </a:extLst>
            </p:cNvPr>
            <p:cNvSpPr/>
            <p:nvPr/>
          </p:nvSpPr>
          <p:spPr>
            <a:xfrm rot="16200000">
              <a:off x="6854030" y="5537470"/>
              <a:ext cx="208598" cy="79480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Output</a:t>
              </a:r>
              <a:endParaRPr lang="ko-KR" altLang="en-US" sz="1400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03E98C-FF87-1696-4B20-8C80215C8F93}"/>
                </a:ext>
              </a:extLst>
            </p:cNvPr>
            <p:cNvSpPr/>
            <p:nvPr/>
          </p:nvSpPr>
          <p:spPr>
            <a:xfrm>
              <a:off x="6259137" y="4991208"/>
              <a:ext cx="208598" cy="7872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SPI/I2C</a:t>
              </a:r>
              <a:endParaRPr lang="ko-KR" altLang="en-US" sz="14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60B7691-B0BB-80D6-1475-E23668E79098}"/>
                </a:ext>
              </a:extLst>
            </p:cNvPr>
            <p:cNvSpPr/>
            <p:nvPr/>
          </p:nvSpPr>
          <p:spPr>
            <a:xfrm rot="16200000">
              <a:off x="7979412" y="5307153"/>
              <a:ext cx="208598" cy="125544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Output</a:t>
              </a:r>
              <a:endParaRPr lang="ko-KR" altLang="en-US" sz="1400" dirty="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C7E700F-49FD-B0A2-6A8F-EB9A24D22539}"/>
              </a:ext>
            </a:extLst>
          </p:cNvPr>
          <p:cNvGrpSpPr/>
          <p:nvPr/>
        </p:nvGrpSpPr>
        <p:grpSpPr>
          <a:xfrm>
            <a:off x="6359395" y="6055119"/>
            <a:ext cx="2392564" cy="543013"/>
            <a:chOff x="4547219" y="6118739"/>
            <a:chExt cx="2939862" cy="543013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19F8727-7C95-A51E-83F8-991231C11504}"/>
                </a:ext>
              </a:extLst>
            </p:cNvPr>
            <p:cNvSpPr/>
            <p:nvPr/>
          </p:nvSpPr>
          <p:spPr>
            <a:xfrm>
              <a:off x="4547219" y="6190672"/>
              <a:ext cx="2939862" cy="47108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dirty="0"/>
                <a:t>DSO/DMM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0D8CA93-39E7-A5DA-48BA-B98304AF5789}"/>
                </a:ext>
              </a:extLst>
            </p:cNvPr>
            <p:cNvSpPr/>
            <p:nvPr/>
          </p:nvSpPr>
          <p:spPr>
            <a:xfrm rot="16200000">
              <a:off x="6561671" y="5451726"/>
              <a:ext cx="208598" cy="154262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Probe</a:t>
              </a:r>
              <a:endParaRPr lang="ko-KR" altLang="en-US" sz="1400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7B2EAE1-E64B-2681-F164-63EEA41155A0}"/>
                </a:ext>
              </a:extLst>
            </p:cNvPr>
            <p:cNvSpPr/>
            <p:nvPr/>
          </p:nvSpPr>
          <p:spPr>
            <a:xfrm rot="16200000">
              <a:off x="5178860" y="5734729"/>
              <a:ext cx="208598" cy="9766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Probe</a:t>
              </a:r>
              <a:endParaRPr lang="ko-KR" altLang="en-US" sz="1400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6D21843E-8988-8A00-49A7-38C26DC57673}"/>
              </a:ext>
            </a:extLst>
          </p:cNvPr>
          <p:cNvGrpSpPr/>
          <p:nvPr/>
        </p:nvGrpSpPr>
        <p:grpSpPr>
          <a:xfrm>
            <a:off x="2461317" y="4344210"/>
            <a:ext cx="3307227" cy="1307523"/>
            <a:chOff x="2461317" y="4587822"/>
            <a:chExt cx="3307227" cy="130752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CED5435-6AE2-AE0F-91D9-A2FC7C781CCA}"/>
                </a:ext>
              </a:extLst>
            </p:cNvPr>
            <p:cNvSpPr/>
            <p:nvPr/>
          </p:nvSpPr>
          <p:spPr>
            <a:xfrm>
              <a:off x="2461317" y="4587822"/>
              <a:ext cx="3259102" cy="130752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dirty="0"/>
                <a:t>PC</a:t>
              </a:r>
              <a:endParaRPr lang="ko-KR" altLang="en-US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568EA5A-F2ED-15D9-2A74-D6D902A613D5}"/>
                </a:ext>
              </a:extLst>
            </p:cNvPr>
            <p:cNvSpPr/>
            <p:nvPr/>
          </p:nvSpPr>
          <p:spPr>
            <a:xfrm>
              <a:off x="5559946" y="4991208"/>
              <a:ext cx="208598" cy="7872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SPI/I2C</a:t>
              </a:r>
              <a:endParaRPr lang="ko-KR" altLang="en-US" sz="1400" dirty="0"/>
            </a:p>
          </p:txBody>
        </p:sp>
        <p:sp>
          <p:nvSpPr>
            <p:cNvPr id="54" name="순서도: 문서 53">
              <a:extLst>
                <a:ext uri="{FF2B5EF4-FFF2-40B4-BE49-F238E27FC236}">
                  <a16:creationId xmlns:a16="http://schemas.microsoft.com/office/drawing/2014/main" id="{42FFE753-98A1-98C3-F5E5-1FAB5C6778A8}"/>
                </a:ext>
              </a:extLst>
            </p:cNvPr>
            <p:cNvSpPr/>
            <p:nvPr/>
          </p:nvSpPr>
          <p:spPr>
            <a:xfrm>
              <a:off x="3018559" y="5163943"/>
              <a:ext cx="2245961" cy="441788"/>
            </a:xfrm>
            <a:prstGeom prst="flowChartDocumen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RTL to SPI/I2C</a:t>
              </a:r>
              <a:r>
                <a:rPr lang="ko-KR" altLang="en-US" dirty="0"/>
                <a:t> </a:t>
              </a:r>
              <a:r>
                <a:rPr lang="en-US" altLang="ko-KR" dirty="0"/>
                <a:t>T.V</a:t>
              </a:r>
              <a:endParaRPr lang="ko-KR" alt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0148C211-B958-04C5-09FF-5E4697A0FD56}"/>
              </a:ext>
            </a:extLst>
          </p:cNvPr>
          <p:cNvSpPr txBox="1"/>
          <p:nvPr/>
        </p:nvSpPr>
        <p:spPr>
          <a:xfrm>
            <a:off x="1956332" y="4318186"/>
            <a:ext cx="50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[1]</a:t>
            </a:r>
            <a:endParaRPr lang="ko-KR" altLang="en-US" sz="12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6254E90-966E-3C40-6DF0-0CC3357129E8}"/>
              </a:ext>
            </a:extLst>
          </p:cNvPr>
          <p:cNvSpPr txBox="1"/>
          <p:nvPr/>
        </p:nvSpPr>
        <p:spPr>
          <a:xfrm>
            <a:off x="5888179" y="4333575"/>
            <a:ext cx="5049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[2]</a:t>
            </a:r>
            <a:endParaRPr lang="ko-KR" altLang="en-US" sz="11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37A4B9-5AD4-5AA6-CF5A-A216635F135B}"/>
              </a:ext>
            </a:extLst>
          </p:cNvPr>
          <p:cNvSpPr txBox="1"/>
          <p:nvPr/>
        </p:nvSpPr>
        <p:spPr>
          <a:xfrm>
            <a:off x="5609735" y="6094440"/>
            <a:ext cx="752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[3, 4]</a:t>
            </a:r>
            <a:endParaRPr lang="ko-KR" altLang="en-US" sz="11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815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6F98-A9BA-6501-DB27-21A98016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8FD6FD7-3070-79EC-802C-7E58B3EB8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9756"/>
            <a:ext cx="11938958" cy="2928795"/>
          </a:xfrm>
        </p:spPr>
        <p:txBody>
          <a:bodyPr>
            <a:normAutofit lnSpcReduction="10000"/>
          </a:bodyPr>
          <a:lstStyle/>
          <a:p>
            <a:r>
              <a:rPr lang="ko-KR" altLang="en-US" b="1" dirty="0"/>
              <a:t>테스트 칩 검증</a:t>
            </a:r>
            <a:endParaRPr lang="en-US" altLang="ko-KR" b="1" dirty="0"/>
          </a:p>
          <a:p>
            <a:pPr lvl="1"/>
            <a:r>
              <a:rPr lang="ko-KR" altLang="en-US" b="0" dirty="0"/>
              <a:t>기존 방식에서 발생한 문제</a:t>
            </a:r>
            <a:endParaRPr lang="en-US" altLang="ko-KR" b="0" dirty="0"/>
          </a:p>
          <a:p>
            <a:pPr lvl="2"/>
            <a:r>
              <a:rPr lang="en-US" altLang="ko-KR" dirty="0"/>
              <a:t>[1]~[4] </a:t>
            </a:r>
            <a:r>
              <a:rPr lang="ko-KR" altLang="en-US" dirty="0"/>
              <a:t>까지의 과정을 수십개의 벡터에 대해 수동으로 진행</a:t>
            </a:r>
            <a:endParaRPr lang="en-US" altLang="ko-KR" dirty="0"/>
          </a:p>
          <a:p>
            <a:pPr lvl="2"/>
            <a:r>
              <a:rPr lang="en-US" altLang="ko-KR" dirty="0"/>
              <a:t>IP</a:t>
            </a:r>
            <a:r>
              <a:rPr lang="ko-KR" altLang="en-US" dirty="0"/>
              <a:t>의 종류마다 서로 다른 바이트 순서 </a:t>
            </a:r>
            <a:r>
              <a:rPr lang="en-US" altLang="ko-KR" dirty="0"/>
              <a:t>(endian)</a:t>
            </a:r>
          </a:p>
          <a:p>
            <a:pPr lvl="2"/>
            <a:r>
              <a:rPr lang="en-US" altLang="ko-KR" dirty="0"/>
              <a:t>RTL</a:t>
            </a:r>
            <a:r>
              <a:rPr lang="ko-KR" altLang="en-US" dirty="0"/>
              <a:t>로 작성된 소스코드와 </a:t>
            </a:r>
            <a:r>
              <a:rPr lang="en-US" altLang="ko-KR" dirty="0"/>
              <a:t>SPI/I2C</a:t>
            </a:r>
            <a:r>
              <a:rPr lang="ko-KR" altLang="en-US" dirty="0"/>
              <a:t>로 변환된 테스트 벡터의 대응관계를 보기 어려움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-&gt; </a:t>
            </a:r>
            <a:r>
              <a:rPr lang="ko-KR" altLang="en-US" b="0" dirty="0"/>
              <a:t>위 문제들을 고려하며 </a:t>
            </a:r>
            <a:r>
              <a:rPr lang="en-US" altLang="ko-KR" b="0" dirty="0"/>
              <a:t>[1]~[4]</a:t>
            </a:r>
            <a:r>
              <a:rPr lang="ko-KR" altLang="en-US" b="0" dirty="0"/>
              <a:t>의 과정을 자동화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E02ADB-CE68-0846-6812-8EC6F1D7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정의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78FBAC6-C264-21E3-0A2F-0D1AD3DB914B}"/>
              </a:ext>
            </a:extLst>
          </p:cNvPr>
          <p:cNvGrpSpPr/>
          <p:nvPr/>
        </p:nvGrpSpPr>
        <p:grpSpPr>
          <a:xfrm>
            <a:off x="6259137" y="4341918"/>
            <a:ext cx="2492822" cy="1453643"/>
            <a:chOff x="6259137" y="4585530"/>
            <a:chExt cx="2492822" cy="1453643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5A5E1E2-EFAF-6EB6-EF14-6A84A87FC860}"/>
                </a:ext>
              </a:extLst>
            </p:cNvPr>
            <p:cNvSpPr/>
            <p:nvPr/>
          </p:nvSpPr>
          <p:spPr>
            <a:xfrm>
              <a:off x="6359396" y="4585530"/>
              <a:ext cx="2392563" cy="130752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400" dirty="0" err="1">
                  <a:solidFill>
                    <a:schemeClr val="bg1"/>
                  </a:solidFill>
                </a:rPr>
                <a:t>TestBoard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8F7523B-9ABD-C47C-DA28-D037F5D9337F}"/>
                </a:ext>
              </a:extLst>
            </p:cNvPr>
            <p:cNvSpPr/>
            <p:nvPr/>
          </p:nvSpPr>
          <p:spPr>
            <a:xfrm>
              <a:off x="7455989" y="4991208"/>
              <a:ext cx="1255442" cy="78725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Target </a:t>
              </a:r>
              <a:br>
                <a:rPr lang="en-US" altLang="ko-KR" dirty="0"/>
              </a:br>
              <a:r>
                <a:rPr lang="en-US" altLang="ko-KR" dirty="0"/>
                <a:t>IP Chip</a:t>
              </a:r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4A936CF-A1BB-FBAC-83EF-097D276AFDE9}"/>
                </a:ext>
              </a:extLst>
            </p:cNvPr>
            <p:cNvSpPr/>
            <p:nvPr/>
          </p:nvSpPr>
          <p:spPr>
            <a:xfrm>
              <a:off x="6560926" y="4991208"/>
              <a:ext cx="794804" cy="78725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FPGA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88888F4-21A8-2FE2-0F3C-F462EA6BEDDF}"/>
                </a:ext>
              </a:extLst>
            </p:cNvPr>
            <p:cNvSpPr/>
            <p:nvPr/>
          </p:nvSpPr>
          <p:spPr>
            <a:xfrm rot="16200000">
              <a:off x="6854030" y="5537470"/>
              <a:ext cx="208598" cy="79480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Output</a:t>
              </a:r>
              <a:endParaRPr lang="ko-KR" altLang="en-US" sz="1400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9652D36-10E4-FB39-1015-6BFA70E51174}"/>
                </a:ext>
              </a:extLst>
            </p:cNvPr>
            <p:cNvSpPr/>
            <p:nvPr/>
          </p:nvSpPr>
          <p:spPr>
            <a:xfrm>
              <a:off x="6259137" y="4991208"/>
              <a:ext cx="208598" cy="7872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SPI/I2C</a:t>
              </a:r>
              <a:endParaRPr lang="ko-KR" altLang="en-US" sz="14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F1FFB03-F748-4FDB-29C4-D706E1577484}"/>
                </a:ext>
              </a:extLst>
            </p:cNvPr>
            <p:cNvSpPr/>
            <p:nvPr/>
          </p:nvSpPr>
          <p:spPr>
            <a:xfrm rot="16200000">
              <a:off x="7979412" y="5307153"/>
              <a:ext cx="208598" cy="125544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Output</a:t>
              </a:r>
              <a:endParaRPr lang="ko-KR" altLang="en-US" sz="1400" dirty="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294A2E8-4FCD-6255-C38F-C1C25B4B8CA3}"/>
              </a:ext>
            </a:extLst>
          </p:cNvPr>
          <p:cNvGrpSpPr/>
          <p:nvPr/>
        </p:nvGrpSpPr>
        <p:grpSpPr>
          <a:xfrm>
            <a:off x="6359395" y="6055119"/>
            <a:ext cx="2392564" cy="543013"/>
            <a:chOff x="4547219" y="6118739"/>
            <a:chExt cx="2939862" cy="543013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9FA66181-3B7A-D5C1-5510-A87FA48A8C1C}"/>
                </a:ext>
              </a:extLst>
            </p:cNvPr>
            <p:cNvSpPr/>
            <p:nvPr/>
          </p:nvSpPr>
          <p:spPr>
            <a:xfrm>
              <a:off x="4547219" y="6190672"/>
              <a:ext cx="2939862" cy="47108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dirty="0"/>
                <a:t>DSO/DMM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A435BFC-6A52-6E31-DF10-B4591453D7D8}"/>
                </a:ext>
              </a:extLst>
            </p:cNvPr>
            <p:cNvSpPr/>
            <p:nvPr/>
          </p:nvSpPr>
          <p:spPr>
            <a:xfrm rot="16200000">
              <a:off x="6561671" y="5451726"/>
              <a:ext cx="208598" cy="154262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Probe</a:t>
              </a:r>
              <a:endParaRPr lang="ko-KR" altLang="en-US" sz="1400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44B6A0D-EEDD-BF44-D70C-6F81C4F70A78}"/>
                </a:ext>
              </a:extLst>
            </p:cNvPr>
            <p:cNvSpPr/>
            <p:nvPr/>
          </p:nvSpPr>
          <p:spPr>
            <a:xfrm rot="16200000">
              <a:off x="5178860" y="5734729"/>
              <a:ext cx="208598" cy="9766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Probe</a:t>
              </a:r>
              <a:endParaRPr lang="ko-KR" altLang="en-US" sz="1400" dirty="0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A1D59E4-89A6-C621-FB99-EC31CFBEE100}"/>
              </a:ext>
            </a:extLst>
          </p:cNvPr>
          <p:cNvGrpSpPr/>
          <p:nvPr/>
        </p:nvGrpSpPr>
        <p:grpSpPr>
          <a:xfrm>
            <a:off x="2461317" y="4344210"/>
            <a:ext cx="3307227" cy="1307523"/>
            <a:chOff x="2461317" y="4587822"/>
            <a:chExt cx="3307227" cy="130752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C055117-DFE7-8C68-0114-F837002C4A3A}"/>
                </a:ext>
              </a:extLst>
            </p:cNvPr>
            <p:cNvSpPr/>
            <p:nvPr/>
          </p:nvSpPr>
          <p:spPr>
            <a:xfrm>
              <a:off x="2461317" y="4587822"/>
              <a:ext cx="3259102" cy="130752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dirty="0"/>
                <a:t>PC</a:t>
              </a:r>
              <a:endParaRPr lang="ko-KR" altLang="en-US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0C0DC9A-3913-D2EB-0900-8E184FD51D6B}"/>
                </a:ext>
              </a:extLst>
            </p:cNvPr>
            <p:cNvSpPr/>
            <p:nvPr/>
          </p:nvSpPr>
          <p:spPr>
            <a:xfrm>
              <a:off x="5559946" y="4991208"/>
              <a:ext cx="208598" cy="78725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1400" dirty="0"/>
                <a:t>SPI/I2C</a:t>
              </a:r>
              <a:endParaRPr lang="ko-KR" altLang="en-US" sz="1400" dirty="0"/>
            </a:p>
          </p:txBody>
        </p:sp>
        <p:sp>
          <p:nvSpPr>
            <p:cNvPr id="54" name="순서도: 문서 53">
              <a:extLst>
                <a:ext uri="{FF2B5EF4-FFF2-40B4-BE49-F238E27FC236}">
                  <a16:creationId xmlns:a16="http://schemas.microsoft.com/office/drawing/2014/main" id="{B1C97D38-F11A-8C5B-0F59-E2EEB6CD82F7}"/>
                </a:ext>
              </a:extLst>
            </p:cNvPr>
            <p:cNvSpPr/>
            <p:nvPr/>
          </p:nvSpPr>
          <p:spPr>
            <a:xfrm>
              <a:off x="3018559" y="5163943"/>
              <a:ext cx="2245961" cy="441788"/>
            </a:xfrm>
            <a:prstGeom prst="flowChartDocumen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RTL to SPI/I2C</a:t>
              </a:r>
              <a:r>
                <a:rPr lang="ko-KR" altLang="en-US" dirty="0"/>
                <a:t> </a:t>
              </a:r>
              <a:r>
                <a:rPr lang="en-US" altLang="ko-KR" dirty="0"/>
                <a:t>T.V</a:t>
              </a:r>
              <a:endParaRPr lang="ko-KR" altLang="en-US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A817E18-8161-85B1-D070-95ABCEC0E2C6}"/>
              </a:ext>
            </a:extLst>
          </p:cNvPr>
          <p:cNvSpPr txBox="1"/>
          <p:nvPr/>
        </p:nvSpPr>
        <p:spPr>
          <a:xfrm>
            <a:off x="1956332" y="4318186"/>
            <a:ext cx="504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[1]</a:t>
            </a:r>
            <a:endParaRPr lang="ko-KR" altLang="en-US" sz="12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842A6C-A16C-178C-111B-FA4C5E341ADA}"/>
              </a:ext>
            </a:extLst>
          </p:cNvPr>
          <p:cNvSpPr txBox="1"/>
          <p:nvPr/>
        </p:nvSpPr>
        <p:spPr>
          <a:xfrm>
            <a:off x="5888179" y="4333575"/>
            <a:ext cx="5049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[2]</a:t>
            </a:r>
            <a:endParaRPr lang="ko-KR" altLang="en-US" sz="11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8EAB06-65D9-1A65-2E62-6F346E4F473B}"/>
              </a:ext>
            </a:extLst>
          </p:cNvPr>
          <p:cNvSpPr txBox="1"/>
          <p:nvPr/>
        </p:nvSpPr>
        <p:spPr>
          <a:xfrm>
            <a:off x="5609735" y="6094440"/>
            <a:ext cx="752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[3, 4]</a:t>
            </a:r>
            <a:endParaRPr lang="ko-KR" altLang="en-US" sz="11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561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3A819-F4E6-5135-223C-AA261E79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A232C54-9C1A-7E85-A4B1-4D80C3D1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9756"/>
            <a:ext cx="11938958" cy="201977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를 활용해 해결하려는 이유</a:t>
            </a:r>
            <a:endParaRPr lang="en-US" altLang="ko-KR" dirty="0"/>
          </a:p>
          <a:p>
            <a:pPr lvl="1"/>
            <a:r>
              <a:rPr lang="ko-KR" altLang="en-US" b="0" dirty="0"/>
              <a:t>반복 구조를 가진 다량의 소스코드 분석</a:t>
            </a:r>
          </a:p>
          <a:p>
            <a:pPr lvl="2"/>
            <a:r>
              <a:rPr lang="ko-KR" altLang="en-US" dirty="0"/>
              <a:t>여러 </a:t>
            </a:r>
            <a:r>
              <a:rPr lang="en-US" altLang="ko-KR" dirty="0"/>
              <a:t>RTL </a:t>
            </a:r>
            <a:r>
              <a:rPr lang="ko-KR" altLang="en-US" dirty="0"/>
              <a:t>소스코드에 같은 패턴이 반복되어</a:t>
            </a:r>
            <a:r>
              <a:rPr lang="en-US" altLang="ko-KR" dirty="0"/>
              <a:t>, AI</a:t>
            </a:r>
            <a:r>
              <a:rPr lang="ko-KR" altLang="en-US" dirty="0"/>
              <a:t>로 패턴을 빠르게 찾을 수 있다고 판단</a:t>
            </a:r>
          </a:p>
          <a:p>
            <a:pPr lvl="1"/>
            <a:r>
              <a:rPr lang="ko-KR" altLang="en-US" b="0" dirty="0"/>
              <a:t>반복되는 테스트 절차의 </a:t>
            </a:r>
            <a:r>
              <a:rPr lang="en-US" altLang="ko-KR" b="0" dirty="0"/>
              <a:t>SW </a:t>
            </a:r>
            <a:r>
              <a:rPr lang="ko-KR" altLang="en-US" b="0" dirty="0"/>
              <a:t>자동화</a:t>
            </a:r>
          </a:p>
          <a:p>
            <a:pPr lvl="2"/>
            <a:r>
              <a:rPr lang="ko-KR" altLang="en-US" dirty="0"/>
              <a:t>변환</a:t>
            </a:r>
            <a:r>
              <a:rPr lang="en-US" altLang="ko-KR" dirty="0"/>
              <a:t>, </a:t>
            </a:r>
            <a:r>
              <a:rPr lang="ko-KR" altLang="en-US" dirty="0"/>
              <a:t>인가</a:t>
            </a:r>
            <a:r>
              <a:rPr lang="en-US" altLang="ko-KR" dirty="0"/>
              <a:t>, </a:t>
            </a:r>
            <a:r>
              <a:rPr lang="ko-KR" altLang="en-US" dirty="0"/>
              <a:t>측정</a:t>
            </a:r>
            <a:r>
              <a:rPr lang="en-US" altLang="ko-KR" dirty="0"/>
              <a:t>, </a:t>
            </a:r>
            <a:r>
              <a:rPr lang="ko-KR" altLang="en-US" dirty="0"/>
              <a:t>판정이 매번 같은 순서로 반복되며</a:t>
            </a:r>
            <a:r>
              <a:rPr lang="en-US" altLang="ko-KR" dirty="0"/>
              <a:t>, </a:t>
            </a:r>
            <a:r>
              <a:rPr lang="ko-KR" altLang="en-US" dirty="0"/>
              <a:t>해당 과정은 </a:t>
            </a:r>
            <a:r>
              <a:rPr lang="en-US" altLang="ko-KR" dirty="0"/>
              <a:t>SW</a:t>
            </a:r>
            <a:r>
              <a:rPr lang="ko-KR" altLang="en-US" dirty="0"/>
              <a:t>로 자동화가 가능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C22E8BB-A849-7482-4005-0097114CA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 전략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698C2A6-0528-A54E-5B22-234470AB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27" r="63003" b="16758"/>
          <a:stretch>
            <a:fillRect/>
          </a:stretch>
        </p:blipFill>
        <p:spPr>
          <a:xfrm>
            <a:off x="3412752" y="3567523"/>
            <a:ext cx="3839628" cy="246301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AFEE0F9-3B26-1C57-1E89-345B52DC2C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328" r="62016" b="22036"/>
          <a:stretch>
            <a:fillRect/>
          </a:stretch>
        </p:blipFill>
        <p:spPr>
          <a:xfrm>
            <a:off x="5018187" y="4153856"/>
            <a:ext cx="3942006" cy="2101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D82BED-501D-79CA-074C-7EA3278E3723}"/>
              </a:ext>
            </a:extLst>
          </p:cNvPr>
          <p:cNvSpPr txBox="1"/>
          <p:nvPr/>
        </p:nvSpPr>
        <p:spPr>
          <a:xfrm>
            <a:off x="9254864" y="6581000"/>
            <a:ext cx="3882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* 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직접 작성한 예제코드 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(</a:t>
            </a:r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당시 구현과 무관</a:t>
            </a:r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)</a:t>
            </a:r>
            <a:endParaRPr lang="ko-KR" altLang="en-US" sz="10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C762C-D2DF-6E46-9A88-4A2F985FCEF2}"/>
              </a:ext>
            </a:extLst>
          </p:cNvPr>
          <p:cNvSpPr txBox="1"/>
          <p:nvPr/>
        </p:nvSpPr>
        <p:spPr>
          <a:xfrm>
            <a:off x="3164120" y="3583690"/>
            <a:ext cx="3882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*</a:t>
            </a:r>
            <a:endParaRPr lang="ko-KR" altLang="en-US" sz="10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977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428D-B12F-4209-BCA8-C13A0DA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4C661C9-A25E-79B5-3BDA-1F67901C2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9758"/>
            <a:ext cx="11938958" cy="2857394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활용 방식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b="0" dirty="0"/>
              <a:t>[1] </a:t>
            </a:r>
            <a:r>
              <a:rPr lang="ko-KR" altLang="en-US" b="0" dirty="0"/>
              <a:t>큰 그림은 직접 구성</a:t>
            </a:r>
            <a:endParaRPr lang="en-US" altLang="ko-KR" b="0" dirty="0"/>
          </a:p>
          <a:p>
            <a:pPr lvl="2"/>
            <a:r>
              <a:rPr lang="ko-KR" altLang="en-US" dirty="0"/>
              <a:t>인터페이스 간 연결 관계와 테스트 수행 순서를 직접 구성하고</a:t>
            </a:r>
            <a:r>
              <a:rPr lang="en-US" altLang="ko-KR" dirty="0"/>
              <a:t>, </a:t>
            </a:r>
            <a:r>
              <a:rPr lang="ko-KR" altLang="en-US" dirty="0"/>
              <a:t>간단한 예제로 구현 가능성을 먼저 확인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ko-KR" b="0" dirty="0"/>
              <a:t>[2] AI</a:t>
            </a:r>
            <a:r>
              <a:rPr lang="ko-KR" altLang="en-US" b="0" dirty="0"/>
              <a:t>를 이용한 </a:t>
            </a:r>
            <a:r>
              <a:rPr lang="en-US" altLang="ko-KR" b="0" dirty="0"/>
              <a:t>RTL </a:t>
            </a:r>
            <a:r>
              <a:rPr lang="ko-KR" altLang="en-US" b="0" dirty="0"/>
              <a:t>코드의 패턴 파악 및 소스코드 생성</a:t>
            </a:r>
            <a:endParaRPr lang="en-US" altLang="ko-KR" b="0" dirty="0"/>
          </a:p>
          <a:p>
            <a:pPr lvl="2"/>
            <a:r>
              <a:rPr lang="ko-KR" altLang="en-US" dirty="0"/>
              <a:t>칩 인터페이스</a:t>
            </a:r>
            <a:r>
              <a:rPr lang="en-US" altLang="ko-KR" dirty="0"/>
              <a:t>(SPI / I2C), </a:t>
            </a:r>
            <a:r>
              <a:rPr lang="ko-KR" altLang="en-US" dirty="0"/>
              <a:t>계측기 연결</a:t>
            </a:r>
            <a:r>
              <a:rPr lang="en-US" altLang="ko-KR" dirty="0"/>
              <a:t>(VISA / SCPI), </a:t>
            </a:r>
            <a:r>
              <a:rPr lang="ko-KR" altLang="en-US" dirty="0"/>
              <a:t>팀 </a:t>
            </a:r>
            <a:r>
              <a:rPr lang="en-US" altLang="ko-KR" dirty="0"/>
              <a:t>Convention, </a:t>
            </a:r>
            <a:r>
              <a:rPr lang="ko-KR" altLang="en-US" dirty="0"/>
              <a:t>실행 </a:t>
            </a:r>
            <a:r>
              <a:rPr lang="en-US" altLang="ko-KR" dirty="0"/>
              <a:t>PC </a:t>
            </a:r>
            <a:r>
              <a:rPr lang="ko-KR" altLang="en-US" dirty="0"/>
              <a:t>환경을 전달</a:t>
            </a:r>
          </a:p>
          <a:p>
            <a:pPr lvl="2"/>
            <a:r>
              <a:rPr lang="en-US" altLang="ko-KR" dirty="0"/>
              <a:t>IP</a:t>
            </a:r>
            <a:r>
              <a:rPr lang="ko-KR" altLang="en-US" dirty="0"/>
              <a:t>별 </a:t>
            </a:r>
            <a:r>
              <a:rPr lang="en-US" altLang="ko-KR" dirty="0"/>
              <a:t>endian</a:t>
            </a:r>
            <a:r>
              <a:rPr lang="ko-KR" altLang="en-US" dirty="0"/>
              <a:t> 차이</a:t>
            </a:r>
            <a:r>
              <a:rPr lang="en-US" altLang="ko-KR" dirty="0"/>
              <a:t>, </a:t>
            </a:r>
            <a:r>
              <a:rPr lang="ko-KR" altLang="en-US" dirty="0"/>
              <a:t>프로그램이 사용될 </a:t>
            </a:r>
            <a:r>
              <a:rPr lang="en-US" altLang="ko-KR" dirty="0"/>
              <a:t>PC</a:t>
            </a:r>
            <a:r>
              <a:rPr lang="ko-KR" altLang="en-US" dirty="0"/>
              <a:t>별 </a:t>
            </a:r>
            <a:r>
              <a:rPr lang="en-US" altLang="ko-KR" dirty="0"/>
              <a:t>Python </a:t>
            </a:r>
            <a:r>
              <a:rPr lang="ko-KR" altLang="en-US" dirty="0"/>
              <a:t>버전 차이를 요구사항으로 추가</a:t>
            </a:r>
            <a:endParaRPr lang="en-US" altLang="ko-KR" dirty="0"/>
          </a:p>
          <a:p>
            <a:pPr lvl="2"/>
            <a:r>
              <a:rPr lang="ko-KR" altLang="en-US" dirty="0"/>
              <a:t>단계별 구현</a:t>
            </a:r>
            <a:r>
              <a:rPr lang="en-US" altLang="ko-KR" dirty="0"/>
              <a:t>/</a:t>
            </a:r>
            <a:r>
              <a:rPr lang="ko-KR" altLang="en-US" dirty="0"/>
              <a:t>검증이 가능하도록 소스코드 생성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4604284-D2DF-F0F5-0404-332C029C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 전략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6EC9CC-B3B1-C159-2D5A-0AB27DF00832}"/>
              </a:ext>
            </a:extLst>
          </p:cNvPr>
          <p:cNvSpPr/>
          <p:nvPr/>
        </p:nvSpPr>
        <p:spPr>
          <a:xfrm>
            <a:off x="6359396" y="4238427"/>
            <a:ext cx="2392563" cy="130752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400" dirty="0" err="1">
                <a:solidFill>
                  <a:schemeClr val="bg1"/>
                </a:solidFill>
              </a:rPr>
              <a:t>TestBoard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15FFD9-022C-A81B-7216-680D1309FF4A}"/>
              </a:ext>
            </a:extLst>
          </p:cNvPr>
          <p:cNvSpPr/>
          <p:nvPr/>
        </p:nvSpPr>
        <p:spPr>
          <a:xfrm>
            <a:off x="2461317" y="4240719"/>
            <a:ext cx="3259102" cy="130752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E4FA45D-31E1-250F-1E6E-EF5CE6F42B1F}"/>
              </a:ext>
            </a:extLst>
          </p:cNvPr>
          <p:cNvSpPr/>
          <p:nvPr/>
        </p:nvSpPr>
        <p:spPr>
          <a:xfrm>
            <a:off x="4547219" y="5843569"/>
            <a:ext cx="2939862" cy="4710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DSO/DMM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38BA02-F968-3D32-FF72-7BAC15D5F1F0}"/>
              </a:ext>
            </a:extLst>
          </p:cNvPr>
          <p:cNvSpPr/>
          <p:nvPr/>
        </p:nvSpPr>
        <p:spPr>
          <a:xfrm>
            <a:off x="7455989" y="4644105"/>
            <a:ext cx="1255442" cy="78725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Target </a:t>
            </a:r>
            <a:br>
              <a:rPr lang="en-US" altLang="ko-KR" dirty="0"/>
            </a:br>
            <a:r>
              <a:rPr lang="en-US" altLang="ko-KR" dirty="0"/>
              <a:t>IP Chip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F8768C-3F74-4BF3-05FB-D9485DD88601}"/>
              </a:ext>
            </a:extLst>
          </p:cNvPr>
          <p:cNvSpPr/>
          <p:nvPr/>
        </p:nvSpPr>
        <p:spPr>
          <a:xfrm>
            <a:off x="6560926" y="4644105"/>
            <a:ext cx="794804" cy="78725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FPGA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913C23D-4C0C-0595-76D8-AD8CBCD28697}"/>
              </a:ext>
            </a:extLst>
          </p:cNvPr>
          <p:cNvSpPr/>
          <p:nvPr/>
        </p:nvSpPr>
        <p:spPr>
          <a:xfrm rot="16200000">
            <a:off x="6842710" y="5194142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Output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C2EA78-4DB0-1534-B3EC-93F7D689A27E}"/>
              </a:ext>
            </a:extLst>
          </p:cNvPr>
          <p:cNvSpPr/>
          <p:nvPr/>
        </p:nvSpPr>
        <p:spPr>
          <a:xfrm>
            <a:off x="5559946" y="4644105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SPI/I2C</a:t>
            </a:r>
            <a:endParaRPr lang="ko-KR" altLang="en-US" sz="1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731FFA1-E37E-9842-EDC2-2BD0A0B7104A}"/>
              </a:ext>
            </a:extLst>
          </p:cNvPr>
          <p:cNvSpPr/>
          <p:nvPr/>
        </p:nvSpPr>
        <p:spPr>
          <a:xfrm>
            <a:off x="6259137" y="4644105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SPI/I2C</a:t>
            </a:r>
            <a:endParaRPr lang="ko-KR" altLang="en-US" sz="14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416F80D-9B27-DB70-8F70-8CC32D654E05}"/>
              </a:ext>
            </a:extLst>
          </p:cNvPr>
          <p:cNvSpPr/>
          <p:nvPr/>
        </p:nvSpPr>
        <p:spPr>
          <a:xfrm rot="16200000">
            <a:off x="6850256" y="5482306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Probe</a:t>
            </a:r>
            <a:endParaRPr lang="ko-KR" altLang="en-US" sz="14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515834D-5ED4-AAB1-F125-7D473ECA2789}"/>
              </a:ext>
            </a:extLst>
          </p:cNvPr>
          <p:cNvSpPr/>
          <p:nvPr/>
        </p:nvSpPr>
        <p:spPr>
          <a:xfrm rot="16200000">
            <a:off x="4993024" y="5416170"/>
            <a:ext cx="207365" cy="9195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SCPI/VISA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1A46E5A-2EE7-9000-7FCE-48B4C1FF84C6}"/>
              </a:ext>
            </a:extLst>
          </p:cNvPr>
          <p:cNvSpPr/>
          <p:nvPr/>
        </p:nvSpPr>
        <p:spPr>
          <a:xfrm rot="16200000">
            <a:off x="4993024" y="5128006"/>
            <a:ext cx="207365" cy="9195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SCPI/VISA</a:t>
            </a:r>
          </a:p>
        </p:txBody>
      </p:sp>
      <p:sp>
        <p:nvSpPr>
          <p:cNvPr id="40" name="순서도: 문서 39">
            <a:extLst>
              <a:ext uri="{FF2B5EF4-FFF2-40B4-BE49-F238E27FC236}">
                <a16:creationId xmlns:a16="http://schemas.microsoft.com/office/drawing/2014/main" id="{3DDC6D4E-C930-6FB2-01D1-2AEB4E44EECC}"/>
              </a:ext>
            </a:extLst>
          </p:cNvPr>
          <p:cNvSpPr/>
          <p:nvPr/>
        </p:nvSpPr>
        <p:spPr>
          <a:xfrm>
            <a:off x="3018559" y="4422626"/>
            <a:ext cx="2245961" cy="441788"/>
          </a:xfrm>
          <a:prstGeom prst="flowChartDocumen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RTL to SPI/I2C</a:t>
            </a:r>
            <a:r>
              <a:rPr lang="ko-KR" altLang="en-US" dirty="0"/>
              <a:t> </a:t>
            </a:r>
            <a:r>
              <a:rPr lang="en-US" altLang="ko-KR" dirty="0"/>
              <a:t>T.V</a:t>
            </a:r>
            <a:endParaRPr lang="ko-KR" altLang="en-US" dirty="0"/>
          </a:p>
        </p:txBody>
      </p:sp>
      <p:sp>
        <p:nvSpPr>
          <p:cNvPr id="42" name="순서도: 문서 41">
            <a:extLst>
              <a:ext uri="{FF2B5EF4-FFF2-40B4-BE49-F238E27FC236}">
                <a16:creationId xmlns:a16="http://schemas.microsoft.com/office/drawing/2014/main" id="{F1F02620-13BA-A9F1-D285-65AE0AA1D16D}"/>
              </a:ext>
            </a:extLst>
          </p:cNvPr>
          <p:cNvSpPr/>
          <p:nvPr/>
        </p:nvSpPr>
        <p:spPr>
          <a:xfrm>
            <a:off x="3018559" y="4988190"/>
            <a:ext cx="2245961" cy="441788"/>
          </a:xfrm>
          <a:prstGeom prst="flowChartDocumen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Pass/Fail Check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481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6B00-9726-22AC-7543-8A161B0F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8BC693E-E5B0-A902-1C74-0442AB7E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9758"/>
            <a:ext cx="11938958" cy="2857394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활용 방식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b="0" dirty="0"/>
              <a:t>[1] </a:t>
            </a:r>
            <a:r>
              <a:rPr lang="ko-KR" altLang="en-US" b="0" dirty="0"/>
              <a:t>큰 그림은 직접 구성</a:t>
            </a:r>
            <a:endParaRPr lang="en-US" altLang="ko-KR" b="0" dirty="0"/>
          </a:p>
          <a:p>
            <a:pPr lvl="2"/>
            <a:r>
              <a:rPr lang="ko-KR" altLang="en-US" dirty="0"/>
              <a:t>인터페이스 간 연결 관계와 테스트 수행 순서를 직접 구성하고</a:t>
            </a:r>
            <a:r>
              <a:rPr lang="en-US" altLang="ko-KR" dirty="0"/>
              <a:t>, </a:t>
            </a:r>
            <a:r>
              <a:rPr lang="ko-KR" altLang="en-US" dirty="0"/>
              <a:t>간단한 예제로 구현 가능성을 먼저 확인</a:t>
            </a:r>
            <a:endParaRPr lang="en-US" altLang="ko-KR" dirty="0"/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ko-KR" b="0" dirty="0"/>
              <a:t>[2] AI</a:t>
            </a:r>
            <a:r>
              <a:rPr lang="ko-KR" altLang="en-US" b="0" dirty="0"/>
              <a:t>를 이용한 </a:t>
            </a:r>
            <a:r>
              <a:rPr lang="en-US" altLang="ko-KR" b="0" dirty="0"/>
              <a:t>RTL </a:t>
            </a:r>
            <a:r>
              <a:rPr lang="ko-KR" altLang="en-US" b="0" dirty="0"/>
              <a:t>코드의 패턴 파악 및 소스코드 생성</a:t>
            </a:r>
            <a:endParaRPr lang="en-US" altLang="ko-KR" b="0" dirty="0"/>
          </a:p>
          <a:p>
            <a:pPr lvl="2"/>
            <a:r>
              <a:rPr lang="ko-KR" altLang="en-US" dirty="0"/>
              <a:t>칩 인터페이스</a:t>
            </a:r>
            <a:r>
              <a:rPr lang="en-US" altLang="ko-KR" dirty="0"/>
              <a:t>(SPI / I2C), </a:t>
            </a:r>
            <a:r>
              <a:rPr lang="ko-KR" altLang="en-US" dirty="0"/>
              <a:t>계측기 연결</a:t>
            </a:r>
            <a:r>
              <a:rPr lang="en-US" altLang="ko-KR" dirty="0"/>
              <a:t>(VISA / SCPI), </a:t>
            </a:r>
            <a:r>
              <a:rPr lang="ko-KR" altLang="en-US" dirty="0"/>
              <a:t>팀 </a:t>
            </a:r>
            <a:r>
              <a:rPr lang="en-US" altLang="ko-KR" dirty="0"/>
              <a:t>Convention, </a:t>
            </a:r>
            <a:r>
              <a:rPr lang="ko-KR" altLang="en-US" dirty="0"/>
              <a:t>실행 </a:t>
            </a:r>
            <a:r>
              <a:rPr lang="en-US" altLang="ko-KR" dirty="0"/>
              <a:t>PC </a:t>
            </a:r>
            <a:r>
              <a:rPr lang="ko-KR" altLang="en-US" dirty="0"/>
              <a:t>환경을 전달</a:t>
            </a:r>
          </a:p>
          <a:p>
            <a:pPr lvl="2"/>
            <a:r>
              <a:rPr lang="en-US" altLang="ko-KR" dirty="0"/>
              <a:t>IP</a:t>
            </a:r>
            <a:r>
              <a:rPr lang="ko-KR" altLang="en-US" dirty="0"/>
              <a:t>별 </a:t>
            </a:r>
            <a:r>
              <a:rPr lang="en-US" altLang="ko-KR" dirty="0"/>
              <a:t>endian</a:t>
            </a:r>
            <a:r>
              <a:rPr lang="ko-KR" altLang="en-US" dirty="0"/>
              <a:t> 차이</a:t>
            </a:r>
            <a:r>
              <a:rPr lang="en-US" altLang="ko-KR" dirty="0"/>
              <a:t>, </a:t>
            </a:r>
            <a:r>
              <a:rPr lang="ko-KR" altLang="en-US" dirty="0"/>
              <a:t>프로그램이 사용될 </a:t>
            </a:r>
            <a:r>
              <a:rPr lang="en-US" altLang="ko-KR" dirty="0"/>
              <a:t>PC</a:t>
            </a:r>
            <a:r>
              <a:rPr lang="ko-KR" altLang="en-US" dirty="0"/>
              <a:t>별 </a:t>
            </a:r>
            <a:r>
              <a:rPr lang="en-US" altLang="ko-KR" dirty="0"/>
              <a:t>Python </a:t>
            </a:r>
            <a:r>
              <a:rPr lang="ko-KR" altLang="en-US" dirty="0"/>
              <a:t>버전 차이를 요구사항으로 추가</a:t>
            </a:r>
            <a:endParaRPr lang="en-US" altLang="ko-KR" dirty="0"/>
          </a:p>
          <a:p>
            <a:pPr lvl="2"/>
            <a:r>
              <a:rPr lang="ko-KR" altLang="en-US" dirty="0"/>
              <a:t>단계별 구현</a:t>
            </a:r>
            <a:r>
              <a:rPr lang="en-US" altLang="ko-KR" dirty="0"/>
              <a:t>/</a:t>
            </a:r>
            <a:r>
              <a:rPr lang="ko-KR" altLang="en-US" dirty="0"/>
              <a:t>검증이 가능하도록 소스코드 생성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16F949-2A28-2751-33EC-5262092B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 활용 전략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2C1B26-F0F9-987A-A795-11F7CB200A0A}"/>
              </a:ext>
            </a:extLst>
          </p:cNvPr>
          <p:cNvSpPr/>
          <p:nvPr/>
        </p:nvSpPr>
        <p:spPr>
          <a:xfrm>
            <a:off x="6359396" y="4238427"/>
            <a:ext cx="2392563" cy="130752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400" dirty="0" err="1">
                <a:solidFill>
                  <a:schemeClr val="bg1"/>
                </a:solidFill>
              </a:rPr>
              <a:t>TestBoard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AF9A50-6498-9FDD-E7FF-5C77FEDC6991}"/>
              </a:ext>
            </a:extLst>
          </p:cNvPr>
          <p:cNvSpPr/>
          <p:nvPr/>
        </p:nvSpPr>
        <p:spPr>
          <a:xfrm>
            <a:off x="2461317" y="4240719"/>
            <a:ext cx="3259102" cy="130752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A6F247-DC36-A55C-95D5-C3AC7239313D}"/>
              </a:ext>
            </a:extLst>
          </p:cNvPr>
          <p:cNvSpPr/>
          <p:nvPr/>
        </p:nvSpPr>
        <p:spPr>
          <a:xfrm>
            <a:off x="4547219" y="5843569"/>
            <a:ext cx="2939862" cy="4710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DSO/DMM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F203423-ACB0-DA5A-9ADA-8B8C47089F8C}"/>
              </a:ext>
            </a:extLst>
          </p:cNvPr>
          <p:cNvSpPr/>
          <p:nvPr/>
        </p:nvSpPr>
        <p:spPr>
          <a:xfrm>
            <a:off x="7455989" y="4644105"/>
            <a:ext cx="1255442" cy="787258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Target </a:t>
            </a:r>
            <a:br>
              <a:rPr lang="en-US" altLang="ko-KR" dirty="0"/>
            </a:br>
            <a:r>
              <a:rPr lang="en-US" altLang="ko-KR" dirty="0"/>
              <a:t>IP Chip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50AAC4-C143-0D5C-06A5-0ED4FE44F544}"/>
              </a:ext>
            </a:extLst>
          </p:cNvPr>
          <p:cNvSpPr/>
          <p:nvPr/>
        </p:nvSpPr>
        <p:spPr>
          <a:xfrm>
            <a:off x="6560926" y="4644105"/>
            <a:ext cx="794804" cy="78725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FPGA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B8202D-7831-EFBF-2AC2-16C7D471A044}"/>
              </a:ext>
            </a:extLst>
          </p:cNvPr>
          <p:cNvSpPr/>
          <p:nvPr/>
        </p:nvSpPr>
        <p:spPr>
          <a:xfrm rot="16200000">
            <a:off x="6842710" y="5194142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Output</a:t>
            </a:r>
            <a:endParaRPr lang="ko-KR" altLang="en-US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F7545C-3FAE-C855-F215-CEB25074BF5F}"/>
              </a:ext>
            </a:extLst>
          </p:cNvPr>
          <p:cNvSpPr/>
          <p:nvPr/>
        </p:nvSpPr>
        <p:spPr>
          <a:xfrm>
            <a:off x="5559946" y="4644105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SPI/I2C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ABBF026-7629-7F74-AE28-2F01EC5224F3}"/>
              </a:ext>
            </a:extLst>
          </p:cNvPr>
          <p:cNvSpPr/>
          <p:nvPr/>
        </p:nvSpPr>
        <p:spPr>
          <a:xfrm>
            <a:off x="6259137" y="4644105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SPI/I2C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96E9092-CB71-FD3C-87E8-6999E406AC04}"/>
              </a:ext>
            </a:extLst>
          </p:cNvPr>
          <p:cNvSpPr/>
          <p:nvPr/>
        </p:nvSpPr>
        <p:spPr>
          <a:xfrm rot="16200000">
            <a:off x="6850256" y="5482306"/>
            <a:ext cx="208598" cy="7872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Probe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A43C58-4F11-1079-2C46-95F27D97B2F8}"/>
              </a:ext>
            </a:extLst>
          </p:cNvPr>
          <p:cNvSpPr/>
          <p:nvPr/>
        </p:nvSpPr>
        <p:spPr>
          <a:xfrm rot="16200000">
            <a:off x="4993024" y="5416170"/>
            <a:ext cx="207365" cy="9195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SCPI/VISA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9A8BEF1-76AB-1344-ED13-215AD53ECD0D}"/>
              </a:ext>
            </a:extLst>
          </p:cNvPr>
          <p:cNvSpPr/>
          <p:nvPr/>
        </p:nvSpPr>
        <p:spPr>
          <a:xfrm rot="16200000">
            <a:off x="4993024" y="5128006"/>
            <a:ext cx="207365" cy="91952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SCPI/VISA</a:t>
            </a:r>
          </a:p>
        </p:txBody>
      </p:sp>
      <p:sp>
        <p:nvSpPr>
          <p:cNvPr id="27" name="순서도: 문서 26">
            <a:extLst>
              <a:ext uri="{FF2B5EF4-FFF2-40B4-BE49-F238E27FC236}">
                <a16:creationId xmlns:a16="http://schemas.microsoft.com/office/drawing/2014/main" id="{CE15748C-92A6-5DF1-D72A-42354CF8FDF0}"/>
              </a:ext>
            </a:extLst>
          </p:cNvPr>
          <p:cNvSpPr/>
          <p:nvPr/>
        </p:nvSpPr>
        <p:spPr>
          <a:xfrm>
            <a:off x="3018559" y="4422626"/>
            <a:ext cx="2245961" cy="441788"/>
          </a:xfrm>
          <a:prstGeom prst="flowChartDocumen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RTL to SPI/I2C</a:t>
            </a:r>
            <a:r>
              <a:rPr lang="ko-KR" altLang="en-US" dirty="0"/>
              <a:t> </a:t>
            </a:r>
            <a:r>
              <a:rPr lang="en-US" altLang="ko-KR" dirty="0"/>
              <a:t>T.V</a:t>
            </a:r>
            <a:endParaRPr lang="ko-KR" altLang="en-US" dirty="0"/>
          </a:p>
        </p:txBody>
      </p:sp>
      <p:sp>
        <p:nvSpPr>
          <p:cNvPr id="29" name="순서도: 문서 28">
            <a:extLst>
              <a:ext uri="{FF2B5EF4-FFF2-40B4-BE49-F238E27FC236}">
                <a16:creationId xmlns:a16="http://schemas.microsoft.com/office/drawing/2014/main" id="{9C7C520B-C8DD-6210-8BA0-364983D7A53F}"/>
              </a:ext>
            </a:extLst>
          </p:cNvPr>
          <p:cNvSpPr/>
          <p:nvPr/>
        </p:nvSpPr>
        <p:spPr>
          <a:xfrm>
            <a:off x="3018559" y="4988190"/>
            <a:ext cx="2245961" cy="441788"/>
          </a:xfrm>
          <a:prstGeom prst="flowChartDocumen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Pass/Fail Check</a:t>
            </a:r>
            <a:endParaRPr lang="ko-KR" altLang="en-US" dirty="0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1A177DB2-0856-FB4C-E68C-61D2887D8195}"/>
              </a:ext>
            </a:extLst>
          </p:cNvPr>
          <p:cNvSpPr/>
          <p:nvPr/>
        </p:nvSpPr>
        <p:spPr>
          <a:xfrm>
            <a:off x="4439377" y="4120193"/>
            <a:ext cx="4596485" cy="2329338"/>
          </a:xfrm>
          <a:custGeom>
            <a:avLst/>
            <a:gdLst>
              <a:gd name="csX0" fmla="*/ 1022708 w 4596485"/>
              <a:gd name="csY0" fmla="*/ 0 h 2329338"/>
              <a:gd name="csX1" fmla="*/ 4596485 w 4596485"/>
              <a:gd name="csY1" fmla="*/ 0 h 2329338"/>
              <a:gd name="csX2" fmla="*/ 4596485 w 4596485"/>
              <a:gd name="csY2" fmla="*/ 1309785 h 2329338"/>
              <a:gd name="csX3" fmla="*/ 4596485 w 4596485"/>
              <a:gd name="csY3" fmla="*/ 1651441 h 2329338"/>
              <a:gd name="csX4" fmla="*/ 4596485 w 4596485"/>
              <a:gd name="csY4" fmla="*/ 2329338 h 2329338"/>
              <a:gd name="csX5" fmla="*/ 0 w 4596485"/>
              <a:gd name="csY5" fmla="*/ 2329338 h 2329338"/>
              <a:gd name="csX6" fmla="*/ 0 w 4596485"/>
              <a:gd name="csY6" fmla="*/ 1309785 h 2329338"/>
              <a:gd name="csX7" fmla="*/ 1022708 w 4596485"/>
              <a:gd name="csY7" fmla="*/ 1309785 h 2329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96485" h="2329338">
                <a:moveTo>
                  <a:pt x="1022708" y="0"/>
                </a:moveTo>
                <a:lnTo>
                  <a:pt x="4596485" y="0"/>
                </a:lnTo>
                <a:lnTo>
                  <a:pt x="4596485" y="1309785"/>
                </a:lnTo>
                <a:lnTo>
                  <a:pt x="4596485" y="1651441"/>
                </a:lnTo>
                <a:lnTo>
                  <a:pt x="4596485" y="2329338"/>
                </a:lnTo>
                <a:lnTo>
                  <a:pt x="0" y="2329338"/>
                </a:lnTo>
                <a:lnTo>
                  <a:pt x="0" y="1309785"/>
                </a:lnTo>
                <a:lnTo>
                  <a:pt x="1022708" y="1309785"/>
                </a:lnTo>
                <a:close/>
              </a:path>
            </a:pathLst>
          </a:custGeom>
          <a:noFill/>
          <a:ln w="57150" cap="flat" cmpd="sng" algn="ctr">
            <a:solidFill>
              <a:srgbClr val="D92F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34FB8F-2AB6-4D63-42E0-16D9DEEDC1AB}"/>
              </a:ext>
            </a:extLst>
          </p:cNvPr>
          <p:cNvSpPr txBox="1"/>
          <p:nvPr/>
        </p:nvSpPr>
        <p:spPr>
          <a:xfrm>
            <a:off x="4418003" y="6423036"/>
            <a:ext cx="3882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* </a:t>
            </a:r>
            <a:r>
              <a:rPr lang="ko-KR" altLang="en-US" sz="12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이번 시연에서는 </a:t>
            </a:r>
            <a:r>
              <a:rPr lang="en-US" altLang="ko-KR" sz="1200" dirty="0" err="1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iverilog</a:t>
            </a:r>
            <a:r>
              <a:rPr lang="en-US" altLang="ko-KR" sz="12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RTL </a:t>
            </a:r>
            <a:r>
              <a:rPr lang="ko-KR" altLang="en-US" sz="1200" dirty="0">
                <a:solidFill>
                  <a:srgbClr val="C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시뮬레이터로 대체 </a:t>
            </a:r>
            <a:endParaRPr lang="ko-KR" altLang="en-US" sz="1000" dirty="0">
              <a:solidFill>
                <a:srgbClr val="C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067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EF72-C5CD-2A01-C0AC-6EDC9984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61769F-E17B-27A0-EAD5-5A7EBBFEE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및 시연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B34F1B-AF55-FEDE-28CA-676D88A78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84" y="1134145"/>
            <a:ext cx="8041632" cy="531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3143-7833-4984-5965-30CCE6E2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A8D8DD-2ACF-5396-A7EC-092F93B88A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453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icrosoft GothicNeo-default">
      <a:majorFont>
        <a:latin typeface="Microsoft GothicNeo"/>
        <a:ea typeface="Microsoft GothicNeo"/>
        <a:cs typeface=""/>
      </a:majorFont>
      <a:minorFont>
        <a:latin typeface="Microsoft GothicNeo"/>
        <a:ea typeface="Microsoft GothicNe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68434</TotalTime>
  <Words>548</Words>
  <Application>Microsoft Office PowerPoint</Application>
  <PresentationFormat>와이드스크린</PresentationFormat>
  <Paragraphs>107</Paragraphs>
  <Slides>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HY견고딕</vt:lpstr>
      <vt:lpstr>Pretendard Variable Medium</vt:lpstr>
      <vt:lpstr>Microsoft GothicNeo</vt:lpstr>
      <vt:lpstr>Wingdings</vt:lpstr>
      <vt:lpstr>Arial</vt:lpstr>
      <vt:lpstr>Pretendard Variable Light</vt:lpstr>
      <vt:lpstr>Pretendard Variable</vt:lpstr>
      <vt:lpstr>Pretendard Variable Thin</vt:lpstr>
      <vt:lpstr>맑은 고딕</vt:lpstr>
      <vt:lpstr>Pretendard Variable SemiBold</vt:lpstr>
      <vt:lpstr>Office 테마</vt:lpstr>
      <vt:lpstr>AX 전형 사전과제</vt:lpstr>
      <vt:lpstr>PowerPoint 프레젠테이션</vt:lpstr>
      <vt:lpstr>문제 정의 (1/2)</vt:lpstr>
      <vt:lpstr>문제 정의 (2/2)</vt:lpstr>
      <vt:lpstr>AI 활용 전략 (1/2)</vt:lpstr>
      <vt:lpstr>AI 활용 전략 (2/2)</vt:lpstr>
      <vt:lpstr>AI 활용 전략 (2/2)</vt:lpstr>
      <vt:lpstr>결과 및 시연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Bang HY</dc:creator>
  <cp:lastModifiedBy>HY Bang</cp:lastModifiedBy>
  <cp:revision>182</cp:revision>
  <dcterms:created xsi:type="dcterms:W3CDTF">2023-07-12T06:34:00Z</dcterms:created>
  <dcterms:modified xsi:type="dcterms:W3CDTF">2026-10-27T05:22:34Z</dcterms:modified>
</cp:coreProperties>
</file>